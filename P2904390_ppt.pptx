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imes New Roman Bold" charset="1" panose="02020803070505020304"/>
      <p:regular r:id="rId17"/>
    </p:embeddedFont>
    <p:embeddedFont>
      <p:font typeface="Open Sauce Bold" charset="1" panose="00000800000000000000"/>
      <p:regular r:id="rId18"/>
    </p:embeddedFont>
    <p:embeddedFont>
      <p:font typeface="Times New Roman" charset="1" panose="02020603050405020304"/>
      <p:regular r:id="rId19"/>
    </p:embeddedFont>
    <p:embeddedFont>
      <p:font typeface="Canva Sans" charset="1" panose="020B0503030501040103"/>
      <p:regular r:id="rId20"/>
    </p:embeddedFont>
    <p:embeddedFont>
      <p:font typeface="Poppins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000" t="0" r="-100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12590">
            <a:off x="5762787" y="-4299158"/>
            <a:ext cx="14596320" cy="16128530"/>
          </a:xfrm>
          <a:custGeom>
            <a:avLst/>
            <a:gdLst/>
            <a:ahLst/>
            <a:cxnLst/>
            <a:rect r="r" b="b" t="t" l="l"/>
            <a:pathLst>
              <a:path h="16128530" w="14596320">
                <a:moveTo>
                  <a:pt x="0" y="0"/>
                </a:moveTo>
                <a:lnTo>
                  <a:pt x="14596319" y="0"/>
                </a:lnTo>
                <a:lnTo>
                  <a:pt x="14596319" y="16128530"/>
                </a:lnTo>
                <a:lnTo>
                  <a:pt x="0" y="161285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058675" y="9365622"/>
            <a:ext cx="103535" cy="10353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657C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8425986"/>
            <a:ext cx="832314" cy="83231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B2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71651" y="8624173"/>
            <a:ext cx="346413" cy="433016"/>
          </a:xfrm>
          <a:custGeom>
            <a:avLst/>
            <a:gdLst/>
            <a:ahLst/>
            <a:cxnLst/>
            <a:rect r="r" b="b" t="t" l="l"/>
            <a:pathLst>
              <a:path h="433016" w="346413">
                <a:moveTo>
                  <a:pt x="0" y="0"/>
                </a:moveTo>
                <a:lnTo>
                  <a:pt x="346412" y="0"/>
                </a:lnTo>
                <a:lnTo>
                  <a:pt x="346412" y="433016"/>
                </a:lnTo>
                <a:lnTo>
                  <a:pt x="0" y="4330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724321"/>
            <a:ext cx="15447407" cy="365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9"/>
              </a:lnSpc>
            </a:pPr>
            <a:r>
              <a:rPr lang="en-US" b="true" sz="7974">
                <a:solidFill>
                  <a:srgbClr val="2657C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NEURAL NETWORK MODEL FOR FASHION – MNIST IMAGE CLASSIFICATION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65467" y="8654626"/>
            <a:ext cx="4756684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2657C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Student ID : P2904390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12590">
            <a:off x="9750750" y="-5975171"/>
            <a:ext cx="12329173" cy="15896389"/>
          </a:xfrm>
          <a:custGeom>
            <a:avLst/>
            <a:gdLst/>
            <a:ahLst/>
            <a:cxnLst/>
            <a:rect r="r" b="b" t="t" l="l"/>
            <a:pathLst>
              <a:path h="15896389" w="12329173">
                <a:moveTo>
                  <a:pt x="0" y="0"/>
                </a:moveTo>
                <a:lnTo>
                  <a:pt x="12329173" y="0"/>
                </a:lnTo>
                <a:lnTo>
                  <a:pt x="12329173" y="15896389"/>
                </a:lnTo>
                <a:lnTo>
                  <a:pt x="0" y="158963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388" t="-146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77312" y="9567961"/>
            <a:ext cx="23663956" cy="2334069"/>
            <a:chOff x="0" y="0"/>
            <a:chExt cx="6232482" cy="6147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32482" cy="614734"/>
            </a:xfrm>
            <a:custGeom>
              <a:avLst/>
              <a:gdLst/>
              <a:ahLst/>
              <a:cxnLst/>
              <a:rect r="r" b="b" t="t" l="l"/>
              <a:pathLst>
                <a:path h="614734" w="6232482">
                  <a:moveTo>
                    <a:pt x="0" y="0"/>
                  </a:moveTo>
                  <a:lnTo>
                    <a:pt x="6232482" y="0"/>
                  </a:lnTo>
                  <a:lnTo>
                    <a:pt x="6232482" y="614734"/>
                  </a:lnTo>
                  <a:lnTo>
                    <a:pt x="0" y="614734"/>
                  </a:lnTo>
                  <a:close/>
                </a:path>
              </a:pathLst>
            </a:custGeom>
            <a:solidFill>
              <a:srgbClr val="2254C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232482" cy="652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6823746" y="1801431"/>
            <a:ext cx="4048917" cy="0"/>
          </a:xfrm>
          <a:prstGeom prst="line">
            <a:avLst/>
          </a:prstGeom>
          <a:ln cap="flat" w="47625">
            <a:solidFill>
              <a:srgbClr val="F8CB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781071" y="3022006"/>
            <a:ext cx="310229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Background: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81071" y="3668492"/>
            <a:ext cx="1413426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classification powers apps like fashion e-commerce, identifying clothes from photos.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81071" y="4620520"/>
            <a:ext cx="310229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Chosen: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81071" y="5369518"/>
            <a:ext cx="14134265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explore neural networks for real-world vision tasks; Fashion-MNIST is a simple benchmark like MNIST but for clothes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1071" y="6737308"/>
            <a:ext cx="402255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Addressed: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81071" y="7422969"/>
            <a:ext cx="1413426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accurately classify 10 clothing types from 28x28 grayscale images—test ANN vs. CNN efficiency.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83370" y="409575"/>
            <a:ext cx="8240714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57"/>
              </a:lnSpc>
            </a:pPr>
            <a:r>
              <a:rPr lang="en-US" sz="7631" b="true">
                <a:solidFill>
                  <a:srgbClr val="2657C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12590">
            <a:off x="9750750" y="-5975171"/>
            <a:ext cx="12329173" cy="15896389"/>
          </a:xfrm>
          <a:custGeom>
            <a:avLst/>
            <a:gdLst/>
            <a:ahLst/>
            <a:cxnLst/>
            <a:rect r="r" b="b" t="t" l="l"/>
            <a:pathLst>
              <a:path h="15896389" w="12329173">
                <a:moveTo>
                  <a:pt x="0" y="0"/>
                </a:moveTo>
                <a:lnTo>
                  <a:pt x="12329173" y="0"/>
                </a:lnTo>
                <a:lnTo>
                  <a:pt x="12329173" y="15896389"/>
                </a:lnTo>
                <a:lnTo>
                  <a:pt x="0" y="158963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388" t="-146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77312" y="9567961"/>
            <a:ext cx="23663956" cy="2334069"/>
            <a:chOff x="0" y="0"/>
            <a:chExt cx="6232482" cy="6147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32482" cy="614734"/>
            </a:xfrm>
            <a:custGeom>
              <a:avLst/>
              <a:gdLst/>
              <a:ahLst/>
              <a:cxnLst/>
              <a:rect r="r" b="b" t="t" l="l"/>
              <a:pathLst>
                <a:path h="614734" w="6232482">
                  <a:moveTo>
                    <a:pt x="0" y="0"/>
                  </a:moveTo>
                  <a:lnTo>
                    <a:pt x="6232482" y="0"/>
                  </a:lnTo>
                  <a:lnTo>
                    <a:pt x="6232482" y="614734"/>
                  </a:lnTo>
                  <a:lnTo>
                    <a:pt x="0" y="614734"/>
                  </a:lnTo>
                  <a:close/>
                </a:path>
              </a:pathLst>
            </a:custGeom>
            <a:solidFill>
              <a:srgbClr val="2254C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232482" cy="652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6823746" y="1801431"/>
            <a:ext cx="4048917" cy="0"/>
          </a:xfrm>
          <a:prstGeom prst="line">
            <a:avLst/>
          </a:prstGeom>
          <a:ln cap="flat" w="47625">
            <a:solidFill>
              <a:srgbClr val="F8CB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781071" y="3022006"/>
            <a:ext cx="310229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Main Aims: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81071" y="3668492"/>
            <a:ext cx="1413426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Load/preprocess Fashion-MNIST; build/train ANN and CNN models; compare performance.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81071" y="4620520"/>
            <a:ext cx="402255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to Demonstrate: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81071" y="5369518"/>
            <a:ext cx="1413426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End-to-end PyTorch implementation, evaluation with accuracy/confusion matrices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1071" y="6737308"/>
            <a:ext cx="402255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Outcomes: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81071" y="7422969"/>
            <a:ext cx="1413426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 expected to outperform ANN by 2-5% on spatial features; insights on optimizations like dropout.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22268" y="409575"/>
            <a:ext cx="11593069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57"/>
              </a:lnSpc>
            </a:pPr>
            <a:r>
              <a:rPr lang="en-US" b="true" sz="7631">
                <a:solidFill>
                  <a:srgbClr val="2657C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 / GOALS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12590">
            <a:off x="9750750" y="-5975171"/>
            <a:ext cx="12329173" cy="15896389"/>
          </a:xfrm>
          <a:custGeom>
            <a:avLst/>
            <a:gdLst/>
            <a:ahLst/>
            <a:cxnLst/>
            <a:rect r="r" b="b" t="t" l="l"/>
            <a:pathLst>
              <a:path h="15896389" w="12329173">
                <a:moveTo>
                  <a:pt x="0" y="0"/>
                </a:moveTo>
                <a:lnTo>
                  <a:pt x="12329173" y="0"/>
                </a:lnTo>
                <a:lnTo>
                  <a:pt x="12329173" y="15896389"/>
                </a:lnTo>
                <a:lnTo>
                  <a:pt x="0" y="158963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388" t="-146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77312" y="9567961"/>
            <a:ext cx="23663956" cy="2334069"/>
            <a:chOff x="0" y="0"/>
            <a:chExt cx="6232482" cy="6147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32482" cy="614734"/>
            </a:xfrm>
            <a:custGeom>
              <a:avLst/>
              <a:gdLst/>
              <a:ahLst/>
              <a:cxnLst/>
              <a:rect r="r" b="b" t="t" l="l"/>
              <a:pathLst>
                <a:path h="614734" w="6232482">
                  <a:moveTo>
                    <a:pt x="0" y="0"/>
                  </a:moveTo>
                  <a:lnTo>
                    <a:pt x="6232482" y="0"/>
                  </a:lnTo>
                  <a:lnTo>
                    <a:pt x="6232482" y="614734"/>
                  </a:lnTo>
                  <a:lnTo>
                    <a:pt x="0" y="614734"/>
                  </a:lnTo>
                  <a:close/>
                </a:path>
              </a:pathLst>
            </a:custGeom>
            <a:solidFill>
              <a:srgbClr val="2254C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232482" cy="652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6823746" y="1801431"/>
            <a:ext cx="4048917" cy="0"/>
          </a:xfrm>
          <a:prstGeom prst="line">
            <a:avLst/>
          </a:prstGeom>
          <a:ln cap="flat" w="47625">
            <a:solidFill>
              <a:srgbClr val="F8CB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781071" y="3022006"/>
            <a:ext cx="310229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Overview: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81071" y="3668492"/>
            <a:ext cx="1413426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PyTorch-based pipeline: Data load → Preprocess/split → Model design → Train/eval → Analyze.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81071" y="4620520"/>
            <a:ext cx="310229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Tools/Techniques: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81071" y="5369518"/>
            <a:ext cx="14134265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PyTorch (nn.Module, optim.Adam/SGD), transforms for normalization/augmentation, sklearn for confusion matrices.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1071" y="6737308"/>
            <a:ext cx="402255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Methods: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81071" y="7422969"/>
            <a:ext cx="14134265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epochs training with Cross Entropy Loss; dropout (0.2) for regularization. 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781071" y="409575"/>
            <a:ext cx="14563902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57"/>
              </a:lnSpc>
            </a:pPr>
            <a:r>
              <a:rPr lang="en-US" b="true" sz="7631">
                <a:solidFill>
                  <a:srgbClr val="2657C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METHODOLOGY / APPROACH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12590">
            <a:off x="9750750" y="-5975171"/>
            <a:ext cx="12329173" cy="15896389"/>
          </a:xfrm>
          <a:custGeom>
            <a:avLst/>
            <a:gdLst/>
            <a:ahLst/>
            <a:cxnLst/>
            <a:rect r="r" b="b" t="t" l="l"/>
            <a:pathLst>
              <a:path h="15896389" w="12329173">
                <a:moveTo>
                  <a:pt x="0" y="0"/>
                </a:moveTo>
                <a:lnTo>
                  <a:pt x="12329173" y="0"/>
                </a:lnTo>
                <a:lnTo>
                  <a:pt x="12329173" y="15896389"/>
                </a:lnTo>
                <a:lnTo>
                  <a:pt x="0" y="158963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388" t="-146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77312" y="9567961"/>
            <a:ext cx="23663956" cy="2334069"/>
            <a:chOff x="0" y="0"/>
            <a:chExt cx="6232482" cy="6147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32482" cy="614734"/>
            </a:xfrm>
            <a:custGeom>
              <a:avLst/>
              <a:gdLst/>
              <a:ahLst/>
              <a:cxnLst/>
              <a:rect r="r" b="b" t="t" l="l"/>
              <a:pathLst>
                <a:path h="614734" w="6232482">
                  <a:moveTo>
                    <a:pt x="0" y="0"/>
                  </a:moveTo>
                  <a:lnTo>
                    <a:pt x="6232482" y="0"/>
                  </a:lnTo>
                  <a:lnTo>
                    <a:pt x="6232482" y="614734"/>
                  </a:lnTo>
                  <a:lnTo>
                    <a:pt x="0" y="614734"/>
                  </a:lnTo>
                  <a:close/>
                </a:path>
              </a:pathLst>
            </a:custGeom>
            <a:solidFill>
              <a:srgbClr val="2254C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232482" cy="652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6823746" y="1801431"/>
            <a:ext cx="4048917" cy="0"/>
          </a:xfrm>
          <a:prstGeom prst="line">
            <a:avLst/>
          </a:prstGeom>
          <a:ln cap="flat" w="47625">
            <a:solidFill>
              <a:srgbClr val="F8CB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781071" y="3022006"/>
            <a:ext cx="310229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Sources: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81071" y="3668492"/>
            <a:ext cx="1413426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Torchvision Fashion-MNIST (60K train, 10K test; 10 classes, balanced ~6K each).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81071" y="4620520"/>
            <a:ext cx="310229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Preprocessing: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81071" y="5369518"/>
            <a:ext cx="1413426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Normalize [0-255] to [-1,1]; split 80/10/10 train/val/test; CNN augmentation: RandomRotation(10°).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1071" y="6737308"/>
            <a:ext cx="402255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Parameters: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81071" y="7422969"/>
            <a:ext cx="1413426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Batch=64, lr=0.001; assumptions: GPU available, classes visually distinct but similar (e.g., shirt vs. coat).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36672" y="601281"/>
            <a:ext cx="14892565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57"/>
              </a:lnSpc>
            </a:pPr>
            <a:r>
              <a:rPr lang="en-US" b="true" sz="7631">
                <a:solidFill>
                  <a:srgbClr val="2657C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/ MATERIALS / INPUTS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56834" y="-407184"/>
            <a:ext cx="8990512" cy="8794355"/>
          </a:xfrm>
          <a:custGeom>
            <a:avLst/>
            <a:gdLst/>
            <a:ahLst/>
            <a:cxnLst/>
            <a:rect r="r" b="b" t="t" l="l"/>
            <a:pathLst>
              <a:path h="8794355" w="8990512">
                <a:moveTo>
                  <a:pt x="0" y="0"/>
                </a:moveTo>
                <a:lnTo>
                  <a:pt x="8990512" y="0"/>
                </a:lnTo>
                <a:lnTo>
                  <a:pt x="8990512" y="8794355"/>
                </a:lnTo>
                <a:lnTo>
                  <a:pt x="0" y="8794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3299406" y="5796983"/>
            <a:ext cx="2633425" cy="19050"/>
          </a:xfrm>
          <a:prstGeom prst="line">
            <a:avLst/>
          </a:prstGeom>
          <a:ln cap="flat" w="38100">
            <a:solidFill>
              <a:srgbClr val="2A388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7478409" y="5796983"/>
            <a:ext cx="2864100" cy="0"/>
          </a:xfrm>
          <a:prstGeom prst="line">
            <a:avLst/>
          </a:prstGeom>
          <a:ln cap="flat" w="38100">
            <a:solidFill>
              <a:srgbClr val="2A388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753828" y="5024194"/>
            <a:ext cx="1545578" cy="154557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2A3883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26002" y="5196369"/>
            <a:ext cx="1201230" cy="120123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657C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42509" y="5024194"/>
            <a:ext cx="1545578" cy="154557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2A3883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514684" y="5196369"/>
            <a:ext cx="1201230" cy="120123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657C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932831" y="5024194"/>
            <a:ext cx="1545578" cy="154557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2A3883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105005" y="5196369"/>
            <a:ext cx="1201230" cy="120123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657C1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3958533" y="8829474"/>
            <a:ext cx="120235" cy="220110"/>
          </a:xfrm>
          <a:custGeom>
            <a:avLst/>
            <a:gdLst/>
            <a:ahLst/>
            <a:cxnLst/>
            <a:rect r="r" b="b" t="t" l="l"/>
            <a:pathLst>
              <a:path h="220110" w="120235">
                <a:moveTo>
                  <a:pt x="0" y="0"/>
                </a:moveTo>
                <a:lnTo>
                  <a:pt x="120235" y="0"/>
                </a:lnTo>
                <a:lnTo>
                  <a:pt x="120235" y="220111"/>
                </a:lnTo>
                <a:lnTo>
                  <a:pt x="0" y="2201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676548" y="696672"/>
            <a:ext cx="15505472" cy="1004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9"/>
              </a:lnSpc>
            </a:pPr>
            <a:r>
              <a:rPr lang="en-US" b="true" sz="7629">
                <a:solidFill>
                  <a:srgbClr val="2657C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/ PROCESS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76548" y="6929846"/>
            <a:ext cx="1700139" cy="181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data with transforms; split via random_split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34554" y="6929846"/>
            <a:ext cx="2161489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Train loop: Forward/loss/backward/update; val per epoch.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971297" y="6929846"/>
            <a:ext cx="3468647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Define models—ANN: 3 FC layers (784-128-64-10); CNN: 2 Conv+Pool → FC (3136- 128-10).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13373" y="5480629"/>
            <a:ext cx="3468647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Epoch convergence; eval on test set.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70409" y="5573146"/>
            <a:ext cx="91241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6"/>
              </a:lnSpc>
              <a:spcBef>
                <a:spcPct val="0"/>
              </a:spcBef>
            </a:pPr>
            <a:r>
              <a:rPr lang="en-US" b="true" sz="2722">
                <a:solidFill>
                  <a:srgbClr val="FAFAF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247294" y="5592196"/>
            <a:ext cx="91241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6"/>
              </a:lnSpc>
              <a:spcBef>
                <a:spcPct val="0"/>
              </a:spcBef>
            </a:pPr>
            <a:r>
              <a:rPr lang="en-US" b="true" sz="2722">
                <a:solidFill>
                  <a:srgbClr val="FAFAF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56834" y="5592196"/>
            <a:ext cx="91241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6"/>
              </a:lnSpc>
              <a:spcBef>
                <a:spcPct val="0"/>
              </a:spcBef>
            </a:pPr>
            <a:r>
              <a:rPr lang="en-US" b="true" sz="2722">
                <a:solidFill>
                  <a:srgbClr val="FAFAF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13373" y="4693476"/>
            <a:ext cx="310229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Milestones: </a:t>
            </a:r>
          </a:p>
        </p:txBody>
      </p:sp>
      <p:sp>
        <p:nvSpPr>
          <p:cNvPr name="AutoShape 33" id="33"/>
          <p:cNvSpPr/>
          <p:nvPr/>
        </p:nvSpPr>
        <p:spPr>
          <a:xfrm>
            <a:off x="6823746" y="1801431"/>
            <a:ext cx="4048917" cy="0"/>
          </a:xfrm>
          <a:prstGeom prst="line">
            <a:avLst/>
          </a:prstGeom>
          <a:ln cap="flat" w="47625">
            <a:solidFill>
              <a:srgbClr val="F8CB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13713373" y="6899223"/>
            <a:ext cx="310229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Stage: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713373" y="7653746"/>
            <a:ext cx="3468647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Optimizer choice—Adam for ANN, SGD (momentum=0.9) for CNN.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12590">
            <a:off x="9750750" y="-5975171"/>
            <a:ext cx="12329173" cy="15896389"/>
          </a:xfrm>
          <a:custGeom>
            <a:avLst/>
            <a:gdLst/>
            <a:ahLst/>
            <a:cxnLst/>
            <a:rect r="r" b="b" t="t" l="l"/>
            <a:pathLst>
              <a:path h="15896389" w="12329173">
                <a:moveTo>
                  <a:pt x="0" y="0"/>
                </a:moveTo>
                <a:lnTo>
                  <a:pt x="12329173" y="0"/>
                </a:lnTo>
                <a:lnTo>
                  <a:pt x="12329173" y="15896389"/>
                </a:lnTo>
                <a:lnTo>
                  <a:pt x="0" y="158963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388" t="-146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77312" y="9567961"/>
            <a:ext cx="23663956" cy="2334069"/>
            <a:chOff x="0" y="0"/>
            <a:chExt cx="6232482" cy="6147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32482" cy="614734"/>
            </a:xfrm>
            <a:custGeom>
              <a:avLst/>
              <a:gdLst/>
              <a:ahLst/>
              <a:cxnLst/>
              <a:rect r="r" b="b" t="t" l="l"/>
              <a:pathLst>
                <a:path h="614734" w="6232482">
                  <a:moveTo>
                    <a:pt x="0" y="0"/>
                  </a:moveTo>
                  <a:lnTo>
                    <a:pt x="6232482" y="0"/>
                  </a:lnTo>
                  <a:lnTo>
                    <a:pt x="6232482" y="614734"/>
                  </a:lnTo>
                  <a:lnTo>
                    <a:pt x="0" y="614734"/>
                  </a:lnTo>
                  <a:close/>
                </a:path>
              </a:pathLst>
            </a:custGeom>
            <a:solidFill>
              <a:srgbClr val="2254C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232482" cy="652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6823746" y="1801431"/>
            <a:ext cx="4048917" cy="0"/>
          </a:xfrm>
          <a:prstGeom prst="line">
            <a:avLst/>
          </a:prstGeom>
          <a:ln cap="flat" w="47625">
            <a:solidFill>
              <a:srgbClr val="F8CB2C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2082864" y="3625157"/>
          <a:ext cx="5720112" cy="2724150"/>
        </p:xfrm>
        <a:graphic>
          <a:graphicData uri="http://schemas.openxmlformats.org/drawingml/2006/table">
            <a:tbl>
              <a:tblPr/>
              <a:tblGrid>
                <a:gridCol w="2535417"/>
                <a:gridCol w="3184696"/>
              </a:tblGrid>
              <a:tr h="908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Test ACC(%)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8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ANN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86.8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8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CNN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84.3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781071" y="3022006"/>
            <a:ext cx="310229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Outputs: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81071" y="3668492"/>
            <a:ext cx="1413426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 test acc=86.8%; CNN=84.3% (ANN faster convergence).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81071" y="4620520"/>
            <a:ext cx="402255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Observations: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1071" y="5369518"/>
            <a:ext cx="1413426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 peaks: ANN 87.5%, CNN 85.2%; losses drop (ANN 0.621→0.370)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81071" y="6737308"/>
            <a:ext cx="402255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Visuals: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81071" y="7422969"/>
            <a:ext cx="1413426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curves show ANN steady rise; ~4-5% shirt-coat confusions in heatmaps.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22268" y="409575"/>
            <a:ext cx="11593069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57"/>
              </a:lnSpc>
            </a:pPr>
            <a:r>
              <a:rPr lang="en-US" b="true" sz="7631">
                <a:solidFill>
                  <a:srgbClr val="2657C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RESULTS / FINDINGS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12590">
            <a:off x="9750750" y="-5975171"/>
            <a:ext cx="12329173" cy="15896389"/>
          </a:xfrm>
          <a:custGeom>
            <a:avLst/>
            <a:gdLst/>
            <a:ahLst/>
            <a:cxnLst/>
            <a:rect r="r" b="b" t="t" l="l"/>
            <a:pathLst>
              <a:path h="15896389" w="12329173">
                <a:moveTo>
                  <a:pt x="0" y="0"/>
                </a:moveTo>
                <a:lnTo>
                  <a:pt x="12329173" y="0"/>
                </a:lnTo>
                <a:lnTo>
                  <a:pt x="12329173" y="15896389"/>
                </a:lnTo>
                <a:lnTo>
                  <a:pt x="0" y="158963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388" t="-146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77312" y="9567961"/>
            <a:ext cx="23663956" cy="2334069"/>
            <a:chOff x="0" y="0"/>
            <a:chExt cx="6232482" cy="6147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32482" cy="614734"/>
            </a:xfrm>
            <a:custGeom>
              <a:avLst/>
              <a:gdLst/>
              <a:ahLst/>
              <a:cxnLst/>
              <a:rect r="r" b="b" t="t" l="l"/>
              <a:pathLst>
                <a:path h="614734" w="6232482">
                  <a:moveTo>
                    <a:pt x="0" y="0"/>
                  </a:moveTo>
                  <a:lnTo>
                    <a:pt x="6232482" y="0"/>
                  </a:lnTo>
                  <a:lnTo>
                    <a:pt x="6232482" y="614734"/>
                  </a:lnTo>
                  <a:lnTo>
                    <a:pt x="0" y="614734"/>
                  </a:lnTo>
                  <a:close/>
                </a:path>
              </a:pathLst>
            </a:custGeom>
            <a:solidFill>
              <a:srgbClr val="2254C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232482" cy="652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6823746" y="1801431"/>
            <a:ext cx="4048917" cy="0"/>
          </a:xfrm>
          <a:prstGeom prst="line">
            <a:avLst/>
          </a:prstGeom>
          <a:ln cap="flat" w="47625">
            <a:solidFill>
              <a:srgbClr val="F8CB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781071" y="3022006"/>
            <a:ext cx="310229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Results Mean: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81071" y="3668492"/>
            <a:ext cx="14134265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 suits simple data (flattened inputs work); CNN excels on patterns but SGD slowed it—expected CNN edge not met due to optimizer.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81071" y="4620520"/>
            <a:ext cx="310229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Insights/Patterns: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81071" y="5369518"/>
            <a:ext cx="1413426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 success on textures (sneakers 92% conf); failures on visuals (shirt/coat overlap).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1071" y="6737308"/>
            <a:ext cx="402255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Challenges Handled: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81071" y="7422969"/>
            <a:ext cx="1413426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Overfitting via dropout/aug (+1-2% gain); low lr prevented divergence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0558" y="601281"/>
            <a:ext cx="1804522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57"/>
              </a:lnSpc>
            </a:pPr>
            <a:r>
              <a:rPr lang="en-US" b="true" sz="7631">
                <a:solidFill>
                  <a:srgbClr val="2657C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DISCUSSION / INTERPRETATION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12590">
            <a:off x="9750750" y="-5975171"/>
            <a:ext cx="12329173" cy="15896389"/>
          </a:xfrm>
          <a:custGeom>
            <a:avLst/>
            <a:gdLst/>
            <a:ahLst/>
            <a:cxnLst/>
            <a:rect r="r" b="b" t="t" l="l"/>
            <a:pathLst>
              <a:path h="15896389" w="12329173">
                <a:moveTo>
                  <a:pt x="0" y="0"/>
                </a:moveTo>
                <a:lnTo>
                  <a:pt x="12329173" y="0"/>
                </a:lnTo>
                <a:lnTo>
                  <a:pt x="12329173" y="15896389"/>
                </a:lnTo>
                <a:lnTo>
                  <a:pt x="0" y="158963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388" t="-146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77312" y="9567961"/>
            <a:ext cx="23663956" cy="2334069"/>
            <a:chOff x="0" y="0"/>
            <a:chExt cx="6232482" cy="6147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32482" cy="614734"/>
            </a:xfrm>
            <a:custGeom>
              <a:avLst/>
              <a:gdLst/>
              <a:ahLst/>
              <a:cxnLst/>
              <a:rect r="r" b="b" t="t" l="l"/>
              <a:pathLst>
                <a:path h="614734" w="6232482">
                  <a:moveTo>
                    <a:pt x="0" y="0"/>
                  </a:moveTo>
                  <a:lnTo>
                    <a:pt x="6232482" y="0"/>
                  </a:lnTo>
                  <a:lnTo>
                    <a:pt x="6232482" y="614734"/>
                  </a:lnTo>
                  <a:lnTo>
                    <a:pt x="0" y="614734"/>
                  </a:lnTo>
                  <a:close/>
                </a:path>
              </a:pathLst>
            </a:custGeom>
            <a:solidFill>
              <a:srgbClr val="2254C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232482" cy="652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6823746" y="1801431"/>
            <a:ext cx="4048917" cy="0"/>
          </a:xfrm>
          <a:prstGeom prst="line">
            <a:avLst/>
          </a:prstGeom>
          <a:ln cap="flat" w="47625">
            <a:solidFill>
              <a:srgbClr val="F8CB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781071" y="3022006"/>
            <a:ext cx="310229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Achieved: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81071" y="3668492"/>
            <a:ext cx="1413426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Implemented/trained models achieving &gt;84% acc; compared architectures with visuals.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81071" y="4620520"/>
            <a:ext cx="310229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Learnings: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81071" y="5369518"/>
            <a:ext cx="1413426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Preprocessing/tuning critical; Adam speeds dense nets, SGD builds stability.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1071" y="6737308"/>
            <a:ext cx="402255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Broader Contribution: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81071" y="7422969"/>
            <a:ext cx="1413426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Validates NN choices for fashion AI—e.g., scalable CNNs for apps despite simple data wins.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36672" y="601281"/>
            <a:ext cx="14892565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57"/>
              </a:lnSpc>
            </a:pPr>
            <a:r>
              <a:rPr lang="en-US" b="true" sz="7631">
                <a:solidFill>
                  <a:srgbClr val="2657C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/ SUMMARY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12590">
            <a:off x="9750750" y="-5975171"/>
            <a:ext cx="12329173" cy="15896389"/>
          </a:xfrm>
          <a:custGeom>
            <a:avLst/>
            <a:gdLst/>
            <a:ahLst/>
            <a:cxnLst/>
            <a:rect r="r" b="b" t="t" l="l"/>
            <a:pathLst>
              <a:path h="15896389" w="12329173">
                <a:moveTo>
                  <a:pt x="0" y="0"/>
                </a:moveTo>
                <a:lnTo>
                  <a:pt x="12329173" y="0"/>
                </a:lnTo>
                <a:lnTo>
                  <a:pt x="12329173" y="15896389"/>
                </a:lnTo>
                <a:lnTo>
                  <a:pt x="0" y="158963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8388" t="-146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77312" y="9567961"/>
            <a:ext cx="23663956" cy="2334069"/>
            <a:chOff x="0" y="0"/>
            <a:chExt cx="6232482" cy="6147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32482" cy="614734"/>
            </a:xfrm>
            <a:custGeom>
              <a:avLst/>
              <a:gdLst/>
              <a:ahLst/>
              <a:cxnLst/>
              <a:rect r="r" b="b" t="t" l="l"/>
              <a:pathLst>
                <a:path h="614734" w="6232482">
                  <a:moveTo>
                    <a:pt x="0" y="0"/>
                  </a:moveTo>
                  <a:lnTo>
                    <a:pt x="6232482" y="0"/>
                  </a:lnTo>
                  <a:lnTo>
                    <a:pt x="6232482" y="614734"/>
                  </a:lnTo>
                  <a:lnTo>
                    <a:pt x="0" y="614734"/>
                  </a:lnTo>
                  <a:close/>
                </a:path>
              </a:pathLst>
            </a:custGeom>
            <a:solidFill>
              <a:srgbClr val="2254C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232482" cy="652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6823746" y="1801431"/>
            <a:ext cx="4048917" cy="0"/>
          </a:xfrm>
          <a:prstGeom prst="line">
            <a:avLst/>
          </a:prstGeom>
          <a:ln cap="flat" w="47625">
            <a:solidFill>
              <a:srgbClr val="F8CB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781071" y="3022006"/>
            <a:ext cx="310229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Improvements: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81071" y="3668492"/>
            <a:ext cx="1413426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flips/shifts, batch norm, lr scheduler; try ensembles/ResNet for 90%+ acc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81071" y="4620520"/>
            <a:ext cx="310229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Directions: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81071" y="5369518"/>
            <a:ext cx="1413426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Test on color datasets; transfer learning for real photos.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1071" y="6737308"/>
            <a:ext cx="402255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722" b="true">
                <a:solidFill>
                  <a:srgbClr val="F8CB2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Acknowledgments: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81071" y="7422969"/>
            <a:ext cx="1413426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PyTorch team; module instructors for guidance.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493683"/>
            <a:ext cx="16820212" cy="100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1"/>
              </a:lnSpc>
            </a:pPr>
            <a:r>
              <a:rPr lang="en-US" b="true" sz="6367">
                <a:solidFill>
                  <a:srgbClr val="2657C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WORK / ACKNOWLEDGMENTS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12759" y="4094246"/>
            <a:ext cx="8458789" cy="4138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98"/>
              </a:lnSpc>
            </a:pPr>
            <a:r>
              <a:rPr lang="en-US" sz="18046" b="true">
                <a:solidFill>
                  <a:srgbClr val="2A3883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703633" y="-1342654"/>
            <a:ext cx="10656222" cy="2730323"/>
            <a:chOff x="0" y="0"/>
            <a:chExt cx="2806577" cy="7190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06577" cy="719097"/>
            </a:xfrm>
            <a:custGeom>
              <a:avLst/>
              <a:gdLst/>
              <a:ahLst/>
              <a:cxnLst/>
              <a:rect r="r" b="b" t="t" l="l"/>
              <a:pathLst>
                <a:path h="719097" w="2806577">
                  <a:moveTo>
                    <a:pt x="36326" y="0"/>
                  </a:moveTo>
                  <a:lnTo>
                    <a:pt x="2770251" y="0"/>
                  </a:lnTo>
                  <a:cubicBezTo>
                    <a:pt x="2779885" y="0"/>
                    <a:pt x="2789125" y="3827"/>
                    <a:pt x="2795937" y="10640"/>
                  </a:cubicBezTo>
                  <a:cubicBezTo>
                    <a:pt x="2802750" y="17452"/>
                    <a:pt x="2806577" y="26692"/>
                    <a:pt x="2806577" y="36326"/>
                  </a:cubicBezTo>
                  <a:lnTo>
                    <a:pt x="2806577" y="682772"/>
                  </a:lnTo>
                  <a:cubicBezTo>
                    <a:pt x="2806577" y="692406"/>
                    <a:pt x="2802750" y="701645"/>
                    <a:pt x="2795937" y="708458"/>
                  </a:cubicBezTo>
                  <a:cubicBezTo>
                    <a:pt x="2789125" y="715270"/>
                    <a:pt x="2779885" y="719097"/>
                    <a:pt x="2770251" y="719097"/>
                  </a:cubicBezTo>
                  <a:lnTo>
                    <a:pt x="36326" y="719097"/>
                  </a:lnTo>
                  <a:cubicBezTo>
                    <a:pt x="26692" y="719097"/>
                    <a:pt x="17452" y="715270"/>
                    <a:pt x="10640" y="708458"/>
                  </a:cubicBezTo>
                  <a:cubicBezTo>
                    <a:pt x="3827" y="701645"/>
                    <a:pt x="0" y="692406"/>
                    <a:pt x="0" y="682772"/>
                  </a:cubicBezTo>
                  <a:lnTo>
                    <a:pt x="0" y="36326"/>
                  </a:lnTo>
                  <a:cubicBezTo>
                    <a:pt x="0" y="26692"/>
                    <a:pt x="3827" y="17452"/>
                    <a:pt x="10640" y="10640"/>
                  </a:cubicBezTo>
                  <a:cubicBezTo>
                    <a:pt x="17452" y="3827"/>
                    <a:pt x="26692" y="0"/>
                    <a:pt x="36326" y="0"/>
                  </a:cubicBezTo>
                  <a:close/>
                </a:path>
              </a:pathLst>
            </a:custGeom>
            <a:solidFill>
              <a:srgbClr val="2A388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06577" cy="757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797173" y="-744570"/>
            <a:ext cx="1594345" cy="1534155"/>
            <a:chOff x="0" y="0"/>
            <a:chExt cx="419910" cy="4040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9910" cy="404057"/>
            </a:xfrm>
            <a:custGeom>
              <a:avLst/>
              <a:gdLst/>
              <a:ahLst/>
              <a:cxnLst/>
              <a:rect r="r" b="b" t="t" l="l"/>
              <a:pathLst>
                <a:path h="404057" w="419910">
                  <a:moveTo>
                    <a:pt x="202029" y="0"/>
                  </a:moveTo>
                  <a:lnTo>
                    <a:pt x="217881" y="0"/>
                  </a:lnTo>
                  <a:cubicBezTo>
                    <a:pt x="329459" y="0"/>
                    <a:pt x="419910" y="90451"/>
                    <a:pt x="419910" y="202029"/>
                  </a:cubicBezTo>
                  <a:lnTo>
                    <a:pt x="419910" y="202029"/>
                  </a:lnTo>
                  <a:cubicBezTo>
                    <a:pt x="419910" y="313606"/>
                    <a:pt x="329459" y="404057"/>
                    <a:pt x="217881" y="404057"/>
                  </a:cubicBezTo>
                  <a:lnTo>
                    <a:pt x="202029" y="404057"/>
                  </a:lnTo>
                  <a:cubicBezTo>
                    <a:pt x="90451" y="404057"/>
                    <a:pt x="0" y="313606"/>
                    <a:pt x="0" y="202029"/>
                  </a:cubicBezTo>
                  <a:lnTo>
                    <a:pt x="0" y="202029"/>
                  </a:lnTo>
                  <a:cubicBezTo>
                    <a:pt x="0" y="90451"/>
                    <a:pt x="90451" y="0"/>
                    <a:pt x="202029" y="0"/>
                  </a:cubicBezTo>
                  <a:close/>
                </a:path>
              </a:pathLst>
            </a:custGeom>
            <a:solidFill>
              <a:srgbClr val="FFAA0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19910" cy="4421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53828" y="2847494"/>
            <a:ext cx="2197718" cy="392937"/>
            <a:chOff x="0" y="0"/>
            <a:chExt cx="2273019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73019" cy="406400"/>
            </a:xfrm>
            <a:custGeom>
              <a:avLst/>
              <a:gdLst/>
              <a:ahLst/>
              <a:cxnLst/>
              <a:rect r="r" b="b" t="t" l="l"/>
              <a:pathLst>
                <a:path h="406400" w="2273019">
                  <a:moveTo>
                    <a:pt x="2069819" y="0"/>
                  </a:moveTo>
                  <a:cubicBezTo>
                    <a:pt x="2182044" y="0"/>
                    <a:pt x="2273019" y="90976"/>
                    <a:pt x="2273019" y="203200"/>
                  </a:cubicBezTo>
                  <a:cubicBezTo>
                    <a:pt x="2273019" y="315424"/>
                    <a:pt x="2182044" y="406400"/>
                    <a:pt x="206981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AA0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7301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DAG30OrHAcU</dc:identifier>
  <dcterms:modified xsi:type="dcterms:W3CDTF">2011-08-01T06:04:30Z</dcterms:modified>
  <cp:revision>1</cp:revision>
  <dc:title>P2904390_ppt</dc:title>
</cp:coreProperties>
</file>